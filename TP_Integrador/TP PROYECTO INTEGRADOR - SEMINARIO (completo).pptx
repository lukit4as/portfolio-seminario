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5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rdo" panose="020B0604020202020204" charset="-79"/>
      <p:regular r:id="rId11"/>
    </p:embeddedFont>
    <p:embeddedFont>
      <p:font typeface="Didact Gothic" panose="00000500000000000000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78" y="10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p-integrador-sentimientos.streamlit.app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Lukit4as/portfolio-seminario/tree/main/TP_Integrador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52186" y="960872"/>
            <a:ext cx="3568951" cy="3568951"/>
            <a:chOff x="0" y="0"/>
            <a:chExt cx="4758601" cy="47586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58563" cy="4758563"/>
            </a:xfrm>
            <a:custGeom>
              <a:avLst/>
              <a:gdLst/>
              <a:ahLst/>
              <a:cxnLst/>
              <a:rect l="l" t="t" r="r" b="b"/>
              <a:pathLst>
                <a:path w="4758563" h="4758563">
                  <a:moveTo>
                    <a:pt x="0" y="2379345"/>
                  </a:moveTo>
                  <a:cubicBezTo>
                    <a:pt x="0" y="1065276"/>
                    <a:pt x="1065276" y="0"/>
                    <a:pt x="2379345" y="0"/>
                  </a:cubicBezTo>
                  <a:cubicBezTo>
                    <a:pt x="3693414" y="0"/>
                    <a:pt x="4758563" y="1065276"/>
                    <a:pt x="4758563" y="2379345"/>
                  </a:cubicBezTo>
                  <a:cubicBezTo>
                    <a:pt x="4758563" y="3693414"/>
                    <a:pt x="3693287" y="4758563"/>
                    <a:pt x="2379345" y="4758563"/>
                  </a:cubicBezTo>
                  <a:cubicBezTo>
                    <a:pt x="1065403" y="4758563"/>
                    <a:pt x="0" y="3693287"/>
                    <a:pt x="0" y="2379345"/>
                  </a:cubicBezTo>
                  <a:close/>
                </a:path>
              </a:pathLst>
            </a:custGeom>
            <a:solidFill>
              <a:srgbClr val="343434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824862" y="2882608"/>
            <a:ext cx="2059010" cy="2059010"/>
            <a:chOff x="0" y="0"/>
            <a:chExt cx="2745346" cy="27453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45359" cy="2745359"/>
            </a:xfrm>
            <a:custGeom>
              <a:avLst/>
              <a:gdLst/>
              <a:ahLst/>
              <a:cxnLst/>
              <a:rect l="l" t="t" r="r" b="b"/>
              <a:pathLst>
                <a:path w="2745359" h="2745359">
                  <a:moveTo>
                    <a:pt x="0" y="1372616"/>
                  </a:moveTo>
                  <a:cubicBezTo>
                    <a:pt x="0" y="614553"/>
                    <a:pt x="614553" y="0"/>
                    <a:pt x="1372616" y="0"/>
                  </a:cubicBezTo>
                  <a:cubicBezTo>
                    <a:pt x="2130679" y="0"/>
                    <a:pt x="2745359" y="614553"/>
                    <a:pt x="2745359" y="1372616"/>
                  </a:cubicBezTo>
                  <a:cubicBezTo>
                    <a:pt x="2745359" y="2130679"/>
                    <a:pt x="2130806" y="2745359"/>
                    <a:pt x="1372616" y="2745359"/>
                  </a:cubicBezTo>
                  <a:cubicBezTo>
                    <a:pt x="614426" y="2745359"/>
                    <a:pt x="0" y="2130806"/>
                    <a:pt x="0" y="1372616"/>
                  </a:cubicBezTo>
                  <a:close/>
                </a:path>
              </a:pathLst>
            </a:custGeom>
            <a:solidFill>
              <a:srgbClr val="FA6559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216784" y="4667088"/>
            <a:ext cx="3019882" cy="3019882"/>
            <a:chOff x="0" y="0"/>
            <a:chExt cx="4026510" cy="40265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26535" cy="4026535"/>
            </a:xfrm>
            <a:custGeom>
              <a:avLst/>
              <a:gdLst/>
              <a:ahLst/>
              <a:cxnLst/>
              <a:rect l="l" t="t" r="r" b="b"/>
              <a:pathLst>
                <a:path w="4026535" h="4026535">
                  <a:moveTo>
                    <a:pt x="0" y="2013204"/>
                  </a:moveTo>
                  <a:cubicBezTo>
                    <a:pt x="0" y="901319"/>
                    <a:pt x="901319" y="0"/>
                    <a:pt x="2013204" y="0"/>
                  </a:cubicBezTo>
                  <a:cubicBezTo>
                    <a:pt x="3125089" y="0"/>
                    <a:pt x="4026535" y="901319"/>
                    <a:pt x="4026535" y="2013204"/>
                  </a:cubicBezTo>
                  <a:cubicBezTo>
                    <a:pt x="4026535" y="3125089"/>
                    <a:pt x="3125089" y="4026535"/>
                    <a:pt x="2013204" y="4026535"/>
                  </a:cubicBezTo>
                  <a:cubicBezTo>
                    <a:pt x="901319" y="4026535"/>
                    <a:pt x="0" y="3125089"/>
                    <a:pt x="0" y="2013204"/>
                  </a:cubicBezTo>
                  <a:close/>
                </a:path>
              </a:pathLst>
            </a:custGeom>
            <a:solidFill>
              <a:srgbClr val="F13223"/>
            </a:solid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39926" y="1308554"/>
            <a:ext cx="10560539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144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SEMINARIO DE ACTUALIZACIÓN · IFTS N.º 18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9926" y="2475328"/>
            <a:ext cx="11521411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spc="-12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Análisis de sentimientos</a:t>
            </a:r>
          </a:p>
          <a:p>
            <a:pPr algn="l">
              <a:lnSpc>
                <a:spcPts val="5764"/>
              </a:lnSpc>
            </a:pPr>
            <a:r>
              <a:rPr lang="en-US" sz="4803" spc="-12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de opiniones sobre películas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8554" y="4946142"/>
            <a:ext cx="9736941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spc="102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Comparación de modelos preentrenados y despliegue de una aplicación web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8554" y="7338793"/>
            <a:ext cx="10148735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spc="168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Lucas Suárez · Eric Silvestri · Walter Willich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8554" y="8524608"/>
            <a:ext cx="1014873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spc="66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Ciclo lectivo 2026 · Entrega: 16 de octubre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8554" y="9297514"/>
            <a:ext cx="460995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4"/>
              </a:lnSpc>
            </a:pPr>
            <a:r>
              <a:rPr lang="en-US" sz="1778" spc="142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tp-integrador-sentimientos.streamlit.app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64725"/>
            <a:chOff x="0" y="0"/>
            <a:chExt cx="24402453" cy="2196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19583"/>
            </a:xfrm>
            <a:custGeom>
              <a:avLst/>
              <a:gdLst/>
              <a:ahLst/>
              <a:cxnLst/>
              <a:rect l="l" t="t" r="r" b="b"/>
              <a:pathLst>
                <a:path w="24402414" h="219583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34024" y="557794"/>
            <a:ext cx="161885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spc="6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01 · OBJETIVO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4024" y="1061476"/>
            <a:ext cx="16325764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spc="-101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¿Qué problema resolvemos?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4024" y="9846583"/>
            <a:ext cx="2666256" cy="12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6"/>
              </a:lnSpc>
            </a:pPr>
            <a:r>
              <a:rPr lang="en-US" sz="847" spc="33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TP Integrador · Análisis de sentimientos · IFTS N.º 18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31729" y="9791671"/>
            <a:ext cx="90785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90"/>
              </a:lnSpc>
            </a:pPr>
            <a:r>
              <a:rPr lang="en-US" sz="1325" spc="53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2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90984" y="2326396"/>
            <a:ext cx="5161817" cy="2759640"/>
            <a:chOff x="0" y="0"/>
            <a:chExt cx="6882422" cy="3679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82384" cy="3679571"/>
            </a:xfrm>
            <a:custGeom>
              <a:avLst/>
              <a:gdLst/>
              <a:ahLst/>
              <a:cxnLst/>
              <a:rect l="l" t="t" r="r" b="b"/>
              <a:pathLst>
                <a:path w="6882384" h="367957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F2F7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18368" y="2589343"/>
            <a:ext cx="1477232" cy="352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spc="18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ENTRADA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18368" y="3202848"/>
            <a:ext cx="4507059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72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Una opinión breve escrita por el usuario.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98137" y="2333539"/>
            <a:ext cx="96088" cy="2745343"/>
            <a:chOff x="0" y="0"/>
            <a:chExt cx="128118" cy="36604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8143" cy="3660521"/>
            </a:xfrm>
            <a:custGeom>
              <a:avLst/>
              <a:gdLst/>
              <a:ahLst/>
              <a:cxnLst/>
              <a:rect l="l" t="t" r="r" b="b"/>
              <a:pathLst>
                <a:path w="128143" h="3660521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F13223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581680" y="2326396"/>
            <a:ext cx="5161817" cy="2759640"/>
            <a:chOff x="0" y="0"/>
            <a:chExt cx="6882422" cy="3679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82384" cy="3679571"/>
            </a:xfrm>
            <a:custGeom>
              <a:avLst/>
              <a:gdLst/>
              <a:ahLst/>
              <a:cxnLst/>
              <a:rect l="l" t="t" r="r" b="b"/>
              <a:pathLst>
                <a:path w="6882384" h="367957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F2F7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909064" y="2589343"/>
            <a:ext cx="2768336" cy="352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spc="18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PROCESAMIENTO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09064" y="3202848"/>
            <a:ext cx="4507059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72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Un modelo preentrenado analiza el texto.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588824" y="2333539"/>
            <a:ext cx="96088" cy="2745343"/>
            <a:chOff x="0" y="0"/>
            <a:chExt cx="128118" cy="366045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143" cy="3660521"/>
            </a:xfrm>
            <a:custGeom>
              <a:avLst/>
              <a:gdLst/>
              <a:ahLst/>
              <a:cxnLst/>
              <a:rect l="l" t="t" r="r" b="b"/>
              <a:pathLst>
                <a:path w="128143" h="3660521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F13223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072366" y="2326396"/>
            <a:ext cx="5161817" cy="2759640"/>
            <a:chOff x="0" y="0"/>
            <a:chExt cx="6882422" cy="3679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882384" cy="3679571"/>
            </a:xfrm>
            <a:custGeom>
              <a:avLst/>
              <a:gdLst/>
              <a:ahLst/>
              <a:cxnLst/>
              <a:rect l="l" t="t" r="r" b="b"/>
              <a:pathLst>
                <a:path w="6882384" h="367957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F2F7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2399750" y="2589343"/>
            <a:ext cx="1163850" cy="352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spc="18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SALIDA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99750" y="3202848"/>
            <a:ext cx="4507059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72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Etiqueta de sentimiento y puntaje del modelo.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079519" y="2333539"/>
            <a:ext cx="96088" cy="2745343"/>
            <a:chOff x="0" y="0"/>
            <a:chExt cx="128118" cy="366045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8143" cy="3660521"/>
            </a:xfrm>
            <a:custGeom>
              <a:avLst/>
              <a:gdLst/>
              <a:ahLst/>
              <a:cxnLst/>
              <a:rect l="l" t="t" r="r" b="b"/>
              <a:pathLst>
                <a:path w="128143" h="3660521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F13223"/>
            </a:solid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77191" y="5897480"/>
            <a:ext cx="3118609" cy="466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spc="-75" dirty="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¿Por </a:t>
            </a:r>
            <a:r>
              <a:rPr lang="en-US" sz="3002" spc="-75" dirty="0" err="1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qué</a:t>
            </a:r>
            <a:r>
              <a:rPr lang="en-US" sz="3002" spc="-75" dirty="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 es </a:t>
            </a:r>
            <a:r>
              <a:rPr lang="en-US" sz="3002" spc="-75" dirty="0" err="1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difícil</a:t>
            </a:r>
            <a:r>
              <a:rPr lang="en-US" sz="3002" spc="-75" dirty="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?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45828" y="6671500"/>
            <a:ext cx="15364892" cy="725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2"/>
              </a:lnSpc>
            </a:pPr>
            <a:r>
              <a:rPr lang="es-MX" sz="2401" spc="96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Lo que nos dificultó fue que el lenguaje no siempre es literal, muchas frases están compuestas de ironía, negaciones, jerga, frases que mezclan opiniones, y esto puede confundir al modelo.</a:t>
            </a:r>
            <a:endParaRPr lang="en-US" sz="2401" spc="96" dirty="0">
              <a:solidFill>
                <a:srgbClr val="343434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64725"/>
            <a:chOff x="0" y="0"/>
            <a:chExt cx="24402453" cy="2196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19583"/>
            </a:xfrm>
            <a:custGeom>
              <a:avLst/>
              <a:gdLst/>
              <a:ahLst/>
              <a:cxnLst/>
              <a:rect l="l" t="t" r="r" b="b"/>
              <a:pathLst>
                <a:path w="24402414" h="219583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F13223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A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34024" y="557794"/>
            <a:ext cx="161885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1" b="0" i="0" u="none" strike="noStrike" kern="1200" cap="none" spc="6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02 · METODOLOGÍA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4024" y="1061476"/>
            <a:ext cx="16325764" cy="628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86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53" b="0" i="0" u="none" strike="noStrike" kern="1200" cap="none" spc="-10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rdo"/>
                <a:ea typeface="Cardo"/>
                <a:cs typeface="Cardo"/>
                <a:sym typeface="Cardo"/>
              </a:rPr>
              <a:t>Dos </a:t>
            </a:r>
            <a:r>
              <a:rPr kumimoji="0" lang="en-US" sz="4053" b="0" i="0" u="none" strike="noStrike" kern="1200" cap="none" spc="-10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rdo"/>
                <a:ea typeface="Cardo"/>
                <a:cs typeface="Cardo"/>
                <a:sym typeface="Cardo"/>
              </a:rPr>
              <a:t>modelos</a:t>
            </a:r>
            <a:endParaRPr kumimoji="0" lang="en-US" sz="4053" b="0" i="0" u="none" strike="noStrike" kern="1200" cap="none" spc="-10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34024" y="9846583"/>
            <a:ext cx="2666256" cy="12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01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7" b="0" i="0" u="none" strike="noStrike" kern="1200" cap="none" spc="33" normalizeH="0" baseline="0" noProof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TP Integrador · Análisis de sentimientos · IFTS N.º 18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26371" y="9791671"/>
            <a:ext cx="96143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25" b="0" i="0" u="none" strike="noStrike" kern="1200" cap="none" spc="53" normalizeH="0" baseline="0" noProof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3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90984" y="1692707"/>
            <a:ext cx="7838532" cy="4779226"/>
            <a:chOff x="0" y="0"/>
            <a:chExt cx="10451376" cy="41370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51338" cy="4137025"/>
            </a:xfrm>
            <a:custGeom>
              <a:avLst/>
              <a:gdLst/>
              <a:ahLst/>
              <a:cxnLst/>
              <a:rect l="l" t="t" r="r" b="b"/>
              <a:pathLst>
                <a:path w="10451338" h="4137025">
                  <a:moveTo>
                    <a:pt x="0" y="689483"/>
                  </a:moveTo>
                  <a:cubicBezTo>
                    <a:pt x="0" y="308737"/>
                    <a:pt x="308737" y="0"/>
                    <a:pt x="689483" y="0"/>
                  </a:cubicBezTo>
                  <a:lnTo>
                    <a:pt x="9761855" y="0"/>
                  </a:lnTo>
                  <a:cubicBezTo>
                    <a:pt x="10142728" y="0"/>
                    <a:pt x="10451338" y="308737"/>
                    <a:pt x="10451338" y="689483"/>
                  </a:cubicBezTo>
                  <a:lnTo>
                    <a:pt x="10451338" y="3447542"/>
                  </a:lnTo>
                  <a:cubicBezTo>
                    <a:pt x="10451338" y="3828415"/>
                    <a:pt x="10142601" y="4137025"/>
                    <a:pt x="9761855" y="4137025"/>
                  </a:cubicBezTo>
                  <a:lnTo>
                    <a:pt x="689483" y="4137025"/>
                  </a:lnTo>
                  <a:cubicBezTo>
                    <a:pt x="308737" y="4137025"/>
                    <a:pt x="0" y="3828415"/>
                    <a:pt x="0" y="344754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F2F7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A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87568" y="2338461"/>
            <a:ext cx="7183765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1" b="1" i="0" u="none" strike="noStrike" kern="1200" cap="none" spc="18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DistilBERT</a:t>
            </a:r>
            <a:r>
              <a:rPr kumimoji="0" lang="en-US" sz="2251" b="0" i="0" u="none" strike="noStrike" kern="1200" cap="none" spc="18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  (version mas </a:t>
            </a:r>
            <a:r>
              <a:rPr kumimoji="0" lang="en-US" sz="2251" b="0" i="0" u="none" strike="noStrike" kern="1200" cap="none" spc="18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rapida</a:t>
            </a:r>
            <a:r>
              <a:rPr kumimoji="0" lang="en-US" sz="2251" b="0" i="0" u="none" strike="noStrike" kern="1200" cap="none" spc="18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 de Bert </a:t>
            </a:r>
            <a:r>
              <a:rPr kumimoji="0" lang="en-US" sz="2251" b="0" i="0" u="none" strike="noStrike" kern="1200" cap="none" spc="18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ajustada</a:t>
            </a:r>
            <a:r>
              <a:rPr kumimoji="0" lang="en-US" sz="2251" b="0" i="0" u="none" strike="noStrike" kern="1200" cap="none" spc="18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kumimoji="0" lang="en-US" sz="2251" b="0" i="0" u="none" strike="noStrike" kern="1200" cap="none" spc="18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especificamente</a:t>
            </a:r>
            <a:r>
              <a:rPr kumimoji="0" lang="en-US" sz="2251" b="0" i="0" u="none" strike="noStrike" kern="1200" cap="none" spc="18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 para </a:t>
            </a:r>
            <a:r>
              <a:rPr kumimoji="0" lang="en-US" sz="2251" b="0" i="0" u="none" strike="noStrike" kern="1200" cap="none" spc="18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clasificacion</a:t>
            </a:r>
            <a:r>
              <a:rPr kumimoji="0" lang="en-US" sz="2251" b="0" i="0" u="none" strike="noStrike" kern="1200" cap="none" spc="18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 de </a:t>
            </a:r>
            <a:r>
              <a:rPr kumimoji="0" lang="en-US" sz="2251" b="0" i="0" u="none" strike="noStrike" kern="1200" cap="none" spc="18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sentimientos</a:t>
            </a:r>
            <a:r>
              <a:rPr kumimoji="0" lang="en-US" sz="2251" b="0" i="0" u="none" strike="noStrike" kern="1200" cap="none" spc="18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kumimoji="0" lang="en-US" sz="2251" b="0" i="0" u="none" strike="noStrike" kern="1200" cap="none" spc="18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utilizando</a:t>
            </a:r>
            <a:r>
              <a:rPr kumimoji="0" lang="en-US" sz="2251" b="0" i="0" u="none" strike="noStrike" kern="1200" cap="none" spc="18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 el data set SST-2)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87568" y="3733219"/>
            <a:ext cx="7183765" cy="324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idact Gothic" panose="00000500000000000000" pitchFamily="2" charset="0"/>
              </a:rPr>
              <a:t>Procesamiento Bidireccional Simultáneo:</a:t>
            </a:r>
            <a:r>
              <a:rPr kumimoji="0" lang="es-A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idact Gothic" panose="00000500000000000000" pitchFamily="2" charset="0"/>
              </a:rPr>
              <a:t> No leen de izquierda a derecha de forma aislada.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idact Gothic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idact Gothic" panose="00000500000000000000" pitchFamily="2" charset="0"/>
              </a:rPr>
              <a:t>Mecanismo de Atención:</a:t>
            </a:r>
            <a:r>
              <a:rPr kumimoji="0" lang="es-A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idact Gothic" panose="00000500000000000000" pitchFamily="2" charset="0"/>
              </a:rPr>
              <a:t> Analizan todas las palabras de la frase juntas para entender el significado exacto según el contexto que las rodea.</a:t>
            </a:r>
          </a:p>
          <a:p>
            <a:pPr marL="0" marR="0" lvl="0" indent="0" algn="l" defTabSz="914400" rtl="0" eaLnBrk="1" fontAlgn="auto" latinLnBrk="0" hangingPunct="1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72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marR="0" lvl="0" indent="0" algn="l" defTabSz="914400" rtl="0" eaLnBrk="1" fontAlgn="auto" latinLnBrk="0" hangingPunct="1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72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-</a:t>
            </a:r>
            <a:r>
              <a:rPr kumimoji="0" lang="en-US" sz="2000" b="0" i="0" u="none" strike="noStrike" kern="1200" cap="none" spc="72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Clasificación</a:t>
            </a:r>
            <a:r>
              <a:rPr kumimoji="0" lang="en-US" sz="2000" b="0" i="0" u="none" strike="noStrike" kern="1200" cap="none" spc="72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kumimoji="0" lang="en-US" sz="2000" b="0" i="0" u="none" strike="noStrike" kern="1200" cap="none" spc="72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binaria</a:t>
            </a:r>
            <a:r>
              <a:rPr kumimoji="0" lang="en-US" sz="2000" b="0" i="0" u="none" strike="noStrike" kern="1200" cap="none" spc="72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: </a:t>
            </a:r>
            <a:r>
              <a:rPr kumimoji="0" lang="en-US" sz="2000" b="0" i="0" u="none" strike="noStrike" kern="1200" cap="none" spc="72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positivo</a:t>
            </a:r>
            <a:r>
              <a:rPr kumimoji="0" lang="en-US" sz="2000" b="0" i="0" u="none" strike="noStrike" kern="1200" cap="none" spc="72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 / </a:t>
            </a:r>
            <a:r>
              <a:rPr kumimoji="0" lang="en-US" sz="2000" b="0" i="0" u="none" strike="noStrike" kern="1200" cap="none" spc="72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negativo</a:t>
            </a:r>
            <a:r>
              <a:rPr kumimoji="0" lang="en-US" sz="2000" b="0" i="0" u="none" strike="noStrike" kern="1200" cap="none" spc="72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72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marR="0" lvl="0" indent="0" algn="l" defTabSz="914400" rtl="0" eaLnBrk="1" fontAlgn="auto" latinLnBrk="0" hangingPunct="1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72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-Idioma Ingles</a:t>
            </a:r>
          </a:p>
          <a:p>
            <a:pPr marL="0" marR="0" lvl="0" indent="0" algn="l" defTabSz="914400" rtl="0" eaLnBrk="1" fontAlgn="auto" latinLnBrk="0" hangingPunct="1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72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098137" y="2264912"/>
            <a:ext cx="96088" cy="3088510"/>
            <a:chOff x="0" y="0"/>
            <a:chExt cx="128118" cy="411801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8143" cy="4117975"/>
            </a:xfrm>
            <a:custGeom>
              <a:avLst/>
              <a:gdLst/>
              <a:ahLst/>
              <a:cxnLst/>
              <a:rect l="l" t="t" r="r" b="b"/>
              <a:pathLst>
                <a:path w="128143" h="4117975">
                  <a:moveTo>
                    <a:pt x="0" y="0"/>
                  </a:moveTo>
                  <a:lnTo>
                    <a:pt x="128143" y="0"/>
                  </a:lnTo>
                  <a:lnTo>
                    <a:pt x="128143" y="4117975"/>
                  </a:lnTo>
                  <a:lnTo>
                    <a:pt x="0" y="4117975"/>
                  </a:lnTo>
                  <a:close/>
                </a:path>
              </a:pathLst>
            </a:custGeom>
            <a:solidFill>
              <a:srgbClr val="FA6559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A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95660" y="1475176"/>
            <a:ext cx="7838532" cy="4996698"/>
            <a:chOff x="0" y="0"/>
            <a:chExt cx="10451376" cy="41370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451338" cy="4137025"/>
            </a:xfrm>
            <a:custGeom>
              <a:avLst/>
              <a:gdLst/>
              <a:ahLst/>
              <a:cxnLst/>
              <a:rect l="l" t="t" r="r" b="b"/>
              <a:pathLst>
                <a:path w="10451338" h="4137025">
                  <a:moveTo>
                    <a:pt x="0" y="689483"/>
                  </a:moveTo>
                  <a:cubicBezTo>
                    <a:pt x="0" y="308737"/>
                    <a:pt x="308737" y="0"/>
                    <a:pt x="689483" y="0"/>
                  </a:cubicBezTo>
                  <a:lnTo>
                    <a:pt x="9761855" y="0"/>
                  </a:lnTo>
                  <a:cubicBezTo>
                    <a:pt x="10142728" y="0"/>
                    <a:pt x="10451338" y="308737"/>
                    <a:pt x="10451338" y="689483"/>
                  </a:cubicBezTo>
                  <a:lnTo>
                    <a:pt x="10451338" y="3447542"/>
                  </a:lnTo>
                  <a:cubicBezTo>
                    <a:pt x="10451338" y="3828415"/>
                    <a:pt x="10142601" y="4137025"/>
                    <a:pt x="9761855" y="4137025"/>
                  </a:cubicBezTo>
                  <a:lnTo>
                    <a:pt x="689483" y="4137025"/>
                  </a:lnTo>
                  <a:cubicBezTo>
                    <a:pt x="308737" y="4137025"/>
                    <a:pt x="0" y="3828415"/>
                    <a:pt x="0" y="344754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F2F7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A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067170" y="2264912"/>
            <a:ext cx="6106659" cy="1431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1" b="1" i="0" u="none" strike="noStrike" kern="1200" cap="none" spc="18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XLM-</a:t>
            </a:r>
            <a:r>
              <a:rPr kumimoji="0" lang="en-US" sz="2251" b="1" i="0" u="none" strike="noStrike" kern="1200" cap="none" spc="18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RoBERTa</a:t>
            </a:r>
            <a:r>
              <a:rPr kumimoji="0" lang="en-US" sz="2251" b="1" i="0" u="none" strike="noStrike" kern="1200" cap="none" spc="18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kumimoji="0" lang="en-US" sz="2251" b="0" i="0" u="none" strike="noStrike" kern="1200" cap="none" spc="18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(</a:t>
            </a:r>
            <a:r>
              <a:rPr kumimoji="0" lang="es-MX" sz="2251" b="0" i="0" u="none" strike="noStrike" kern="1200" cap="none" spc="18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es una versión avanzada y multilingüe de la arquitectura </a:t>
            </a:r>
            <a:r>
              <a:rPr kumimoji="0" lang="es-MX" sz="2251" b="0" i="0" u="none" strike="noStrike" kern="1200" cap="none" spc="18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roberta</a:t>
            </a:r>
            <a:r>
              <a:rPr kumimoji="0" lang="es-MX" sz="2251" b="0" i="0" u="none" strike="noStrike" kern="1200" cap="none" spc="18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, entrenado y ajustado </a:t>
            </a:r>
            <a:r>
              <a:rPr kumimoji="0" lang="es-A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 </a:t>
            </a:r>
            <a:r>
              <a:rPr kumimoji="0" lang="es-AR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 </a:t>
            </a:r>
            <a:r>
              <a:rPr kumimoji="0" lang="es-AR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dataset</a:t>
            </a:r>
            <a:r>
              <a:rPr kumimoji="0" lang="es-AR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publicaciones </a:t>
            </a:r>
            <a:r>
              <a:rPr kumimoji="0" lang="es-A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 Twitter multilingües</a:t>
            </a:r>
            <a:r>
              <a:rPr kumimoji="0" lang="es-MX" sz="2251" b="0" i="0" u="none" strike="noStrike" kern="1200" cap="none" spc="18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)</a:t>
            </a:r>
            <a:endParaRPr kumimoji="0" lang="en-US" sz="2251" b="0" i="0" u="none" strike="noStrike" kern="1200" cap="none" spc="18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067170" y="3973061"/>
            <a:ext cx="7183765" cy="26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idact Gothic" panose="00000500000000000000" pitchFamily="2" charset="0"/>
              </a:rPr>
              <a:t>Procesamiento Bidireccional Simultáneo:</a:t>
            </a:r>
            <a:r>
              <a:rPr kumimoji="0" lang="es-A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idact Gothic" panose="00000500000000000000" pitchFamily="2" charset="0"/>
              </a:rPr>
              <a:t> No leen de izquierda a derecha de forma aislada.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idact Gothic" panose="00000500000000000000" pitchFamily="2" charset="0"/>
              </a:rPr>
              <a:t>Mecanismo de Atención:</a:t>
            </a:r>
            <a:r>
              <a:rPr kumimoji="0" lang="es-A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idact Gothic" panose="00000500000000000000" pitchFamily="2" charset="0"/>
              </a:rPr>
              <a:t> Analizan todas las palabras de la frase juntas para entender el significado exacto según el contexto que las rodea.</a:t>
            </a:r>
          </a:p>
          <a:p>
            <a:pPr marL="0" marR="0" lvl="0" indent="0" algn="l" defTabSz="914400" rtl="0" eaLnBrk="1" fontAlgn="auto" latinLnBrk="0" hangingPunct="1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72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marR="0" lvl="0" indent="0" algn="l" defTabSz="914400" rtl="0" eaLnBrk="1" fontAlgn="auto" latinLnBrk="0" hangingPunct="1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72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-</a:t>
            </a:r>
            <a:r>
              <a:rPr kumimoji="0" lang="en-US" sz="2000" b="0" i="0" u="none" strike="noStrike" kern="1200" cap="none" spc="72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Puede</a:t>
            </a:r>
            <a:r>
              <a:rPr kumimoji="0" lang="en-US" sz="2000" b="0" i="0" u="none" strike="noStrike" kern="1200" cap="none" spc="72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kumimoji="0" lang="en-US" sz="2000" b="0" i="0" u="none" strike="noStrike" kern="1200" cap="none" spc="72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devolver</a:t>
            </a:r>
            <a:r>
              <a:rPr kumimoji="0" lang="en-US" sz="2000" b="0" i="0" u="none" strike="noStrike" kern="1200" cap="none" spc="72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: </a:t>
            </a:r>
            <a:r>
              <a:rPr kumimoji="0" lang="en-US" sz="2000" b="0" i="0" u="none" strike="noStrike" kern="1200" cap="none" spc="72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positivo</a:t>
            </a:r>
            <a:r>
              <a:rPr kumimoji="0" lang="en-US" sz="2000" b="0" i="0" u="none" strike="noStrike" kern="1200" cap="none" spc="72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 / neutral / </a:t>
            </a:r>
            <a:r>
              <a:rPr kumimoji="0" lang="en-US" sz="2000" b="0" i="0" u="none" strike="noStrike" kern="1200" cap="none" spc="72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negativo</a:t>
            </a:r>
            <a:r>
              <a:rPr kumimoji="0" lang="en-US" sz="2000" b="0" i="0" u="none" strike="noStrike" kern="1200" cap="none" spc="72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72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marR="0" lvl="0" indent="0" algn="l" defTabSz="914400" rtl="0" eaLnBrk="1" fontAlgn="auto" latinLnBrk="0" hangingPunct="1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-M</a:t>
            </a:r>
            <a:r>
              <a:rPr kumimoji="0" lang="en-US" sz="2000" b="0" i="0" u="none" strike="noStrike" kern="1200" cap="none" spc="72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ultilingüe</a:t>
            </a:r>
            <a:r>
              <a:rPr kumimoji="0" lang="en-US" sz="2000" b="0" i="0" u="none" strike="noStrike" kern="1200" cap="none" spc="72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402804" y="2264912"/>
            <a:ext cx="96088" cy="3088510"/>
            <a:chOff x="0" y="0"/>
            <a:chExt cx="128118" cy="411801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143" cy="4117975"/>
            </a:xfrm>
            <a:custGeom>
              <a:avLst/>
              <a:gdLst/>
              <a:ahLst/>
              <a:cxnLst/>
              <a:rect l="l" t="t" r="r" b="b"/>
              <a:pathLst>
                <a:path w="128143" h="4117975">
                  <a:moveTo>
                    <a:pt x="0" y="0"/>
                  </a:moveTo>
                  <a:lnTo>
                    <a:pt x="128143" y="0"/>
                  </a:lnTo>
                  <a:lnTo>
                    <a:pt x="128143" y="4117975"/>
                  </a:lnTo>
                  <a:lnTo>
                    <a:pt x="0" y="4117975"/>
                  </a:lnTo>
                  <a:close/>
                </a:path>
              </a:pathLst>
            </a:custGeom>
            <a:solidFill>
              <a:srgbClr val="F13223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A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430097" y="7124696"/>
            <a:ext cx="7766809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2" b="0" i="0" u="none" strike="noStrike" kern="1200" cap="none" spc="228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Bert, </a:t>
            </a:r>
            <a:r>
              <a:rPr kumimoji="0" lang="es-MX" sz="2852" b="0" i="0" u="none" strike="noStrike" kern="1200" cap="none" spc="228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es una arquitectura de red neuronal desarrollada por Google, enfocada en el procesamiento de textos</a:t>
            </a:r>
            <a:endParaRPr kumimoji="0" lang="en-US" sz="2852" b="0" i="0" u="none" strike="noStrike" kern="1200" cap="none" spc="228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3C09A796-34D5-D585-D7DC-B65822117D2D}"/>
              </a:ext>
            </a:extLst>
          </p:cNvPr>
          <p:cNvSpPr txBox="1"/>
          <p:nvPr/>
        </p:nvSpPr>
        <p:spPr>
          <a:xfrm>
            <a:off x="9775647" y="7124696"/>
            <a:ext cx="7766809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52" b="0" i="0" u="none" strike="noStrike" kern="1200" cap="none" spc="228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Didact Gothic"/>
                <a:ea typeface="Didact Gothic"/>
                <a:cs typeface="Didact Gothic"/>
                <a:sym typeface="Didact Gothic"/>
              </a:rPr>
              <a:t>Roberta, es una arquitectura de red neuronal desarrollada por meta Facebook, enfocada en el procesamiento de textos</a:t>
            </a:r>
            <a:endParaRPr kumimoji="0" lang="en-US" sz="2852" b="0" i="0" u="none" strike="noStrike" kern="1200" cap="none" spc="228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64725"/>
            <a:chOff x="0" y="0"/>
            <a:chExt cx="24402453" cy="2196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19583"/>
            </a:xfrm>
            <a:custGeom>
              <a:avLst/>
              <a:gdLst/>
              <a:ahLst/>
              <a:cxnLst/>
              <a:rect l="l" t="t" r="r" b="b"/>
              <a:pathLst>
                <a:path w="24402414" h="219583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34024" y="557794"/>
            <a:ext cx="161885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spc="6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03 · RESULTADOS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4024" y="1061476"/>
            <a:ext cx="16325764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spc="-101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Resultados de la comparación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4024" y="9846583"/>
            <a:ext cx="2666256" cy="12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6"/>
              </a:lnSpc>
            </a:pPr>
            <a:r>
              <a:rPr lang="en-US" sz="847" spc="33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TP Integrador · Análisis de sentimientos · IFTS N.º 18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19079" y="9791671"/>
            <a:ext cx="103436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90"/>
              </a:lnSpc>
            </a:pPr>
            <a:r>
              <a:rPr lang="en-US" sz="1325" spc="53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4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28258" y="2326396"/>
            <a:ext cx="7495365" cy="2210572"/>
            <a:chOff x="0" y="0"/>
            <a:chExt cx="9993820" cy="29474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993757" cy="2947416"/>
            </a:xfrm>
            <a:custGeom>
              <a:avLst/>
              <a:gdLst/>
              <a:ahLst/>
              <a:cxnLst/>
              <a:rect l="l" t="t" r="r" b="b"/>
              <a:pathLst>
                <a:path w="9993757" h="2947416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9502521" y="0"/>
                  </a:lnTo>
                  <a:cubicBezTo>
                    <a:pt x="9773793" y="0"/>
                    <a:pt x="9993757" y="219964"/>
                    <a:pt x="9993757" y="491236"/>
                  </a:cubicBezTo>
                  <a:lnTo>
                    <a:pt x="9993757" y="2456180"/>
                  </a:lnTo>
                  <a:cubicBezTo>
                    <a:pt x="9993757" y="2727452"/>
                    <a:pt x="9773793" y="2947416"/>
                    <a:pt x="9502521" y="2947416"/>
                  </a:cubicBezTo>
                  <a:lnTo>
                    <a:pt x="491236" y="2947416"/>
                  </a:lnTo>
                  <a:cubicBezTo>
                    <a:pt x="219964" y="2947416"/>
                    <a:pt x="0" y="2727452"/>
                    <a:pt x="0" y="24561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F2F7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55642" y="2589343"/>
            <a:ext cx="146119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spc="18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DistilBERT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5642" y="3202848"/>
            <a:ext cx="684059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72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6 de 8 aciertos · 75 %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35402" y="2333539"/>
            <a:ext cx="96088" cy="2196274"/>
            <a:chOff x="0" y="0"/>
            <a:chExt cx="128118" cy="292836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8143" cy="2928366"/>
            </a:xfrm>
            <a:custGeom>
              <a:avLst/>
              <a:gdLst/>
              <a:ahLst/>
              <a:cxnLst/>
              <a:rect l="l" t="t" r="r" b="b"/>
              <a:pathLst>
                <a:path w="128143" h="2928366">
                  <a:moveTo>
                    <a:pt x="0" y="0"/>
                  </a:moveTo>
                  <a:lnTo>
                    <a:pt x="128143" y="0"/>
                  </a:lnTo>
                  <a:lnTo>
                    <a:pt x="128143" y="2928366"/>
                  </a:lnTo>
                  <a:lnTo>
                    <a:pt x="0" y="2928366"/>
                  </a:lnTo>
                  <a:close/>
                </a:path>
              </a:pathLst>
            </a:custGeom>
            <a:solidFill>
              <a:srgbClr val="F13223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32925" y="2326396"/>
            <a:ext cx="7495365" cy="2210572"/>
            <a:chOff x="0" y="0"/>
            <a:chExt cx="9993820" cy="29474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993757" cy="2947416"/>
            </a:xfrm>
            <a:custGeom>
              <a:avLst/>
              <a:gdLst/>
              <a:ahLst/>
              <a:cxnLst/>
              <a:rect l="l" t="t" r="r" b="b"/>
              <a:pathLst>
                <a:path w="9993757" h="2947416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9502521" y="0"/>
                  </a:lnTo>
                  <a:cubicBezTo>
                    <a:pt x="9773793" y="0"/>
                    <a:pt x="9993757" y="219964"/>
                    <a:pt x="9993757" y="491236"/>
                  </a:cubicBezTo>
                  <a:lnTo>
                    <a:pt x="9993757" y="2456180"/>
                  </a:lnTo>
                  <a:cubicBezTo>
                    <a:pt x="9993757" y="2727452"/>
                    <a:pt x="9773793" y="2947416"/>
                    <a:pt x="9502521" y="2947416"/>
                  </a:cubicBezTo>
                  <a:lnTo>
                    <a:pt x="491236" y="2947416"/>
                  </a:lnTo>
                  <a:cubicBezTo>
                    <a:pt x="219964" y="2947416"/>
                    <a:pt x="0" y="2727452"/>
                    <a:pt x="0" y="24561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F2F7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860308" y="2589343"/>
            <a:ext cx="2255491" cy="352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spc="18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XLM-</a:t>
            </a:r>
            <a:r>
              <a:rPr lang="en-US" sz="2251" spc="18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RoBERTa</a:t>
            </a:r>
            <a:endParaRPr lang="en-US" sz="2251" spc="180" dirty="0">
              <a:solidFill>
                <a:srgbClr val="343434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860309" y="3202848"/>
            <a:ext cx="684059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72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6 de 8 aciertos · 75 %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540069" y="2333539"/>
            <a:ext cx="96088" cy="2196274"/>
            <a:chOff x="0" y="0"/>
            <a:chExt cx="128118" cy="29283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143" cy="2928366"/>
            </a:xfrm>
            <a:custGeom>
              <a:avLst/>
              <a:gdLst/>
              <a:ahLst/>
              <a:cxnLst/>
              <a:rect l="l" t="t" r="r" b="b"/>
              <a:pathLst>
                <a:path w="128143" h="2928366">
                  <a:moveTo>
                    <a:pt x="0" y="0"/>
                  </a:moveTo>
                  <a:lnTo>
                    <a:pt x="128143" y="0"/>
                  </a:lnTo>
                  <a:lnTo>
                    <a:pt x="128143" y="2928366"/>
                  </a:lnTo>
                  <a:lnTo>
                    <a:pt x="0" y="2928366"/>
                  </a:lnTo>
                  <a:close/>
                </a:path>
              </a:pathLst>
            </a:custGeom>
            <a:solidFill>
              <a:srgbClr val="F13223"/>
            </a:solid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35402" y="5072890"/>
            <a:ext cx="5045869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2"/>
              </a:lnSpc>
            </a:pPr>
            <a:r>
              <a:rPr lang="en-US" sz="2168" spc="173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Casos </a:t>
            </a:r>
            <a:r>
              <a:rPr lang="en-US" sz="2168" spc="173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que</a:t>
            </a:r>
            <a:r>
              <a:rPr lang="en-US" sz="2168" spc="173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2168" spc="173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muestran</a:t>
            </a:r>
            <a:r>
              <a:rPr lang="en-US" sz="2168" spc="173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las </a:t>
            </a:r>
            <a:r>
              <a:rPr lang="en-US" sz="2168" spc="173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limitaciones</a:t>
            </a:r>
            <a:endParaRPr lang="en-US" sz="2168" spc="173" dirty="0">
              <a:solidFill>
                <a:srgbClr val="343434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aphicFrame>
        <p:nvGraphicFramePr>
          <p:cNvPr id="21" name="Table 21"/>
          <p:cNvGraphicFramePr>
            <a:graphicFrameLocks noGrp="1"/>
          </p:cNvGraphicFramePr>
          <p:nvPr/>
        </p:nvGraphicFramePr>
        <p:xfrm>
          <a:off x="1235405" y="5655410"/>
          <a:ext cx="15804798" cy="2287788"/>
        </p:xfrm>
        <a:graphic>
          <a:graphicData uri="http://schemas.openxmlformats.org/drawingml/2006/table">
            <a:tbl>
              <a:tblPr/>
              <a:tblGrid>
                <a:gridCol w="7115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7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7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4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947">
                <a:tc>
                  <a:txBody>
                    <a:bodyPr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spc="66">
                          <a:solidFill>
                            <a:srgbClr val="FFFFFF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Frase</a:t>
                      </a:r>
                      <a:endParaRPr lang="en-US" sz="1100"/>
                    </a:p>
                  </a:txBody>
                  <a:tcPr marL="54864" marR="54864" marT="54864" marB="54864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32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spc="66">
                          <a:solidFill>
                            <a:srgbClr val="FFFFFF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Esperado</a:t>
                      </a:r>
                      <a:endParaRPr lang="en-US" sz="1100"/>
                    </a:p>
                  </a:txBody>
                  <a:tcPr marL="54864" marR="54864" marT="54864" marB="54864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32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spc="66">
                          <a:solidFill>
                            <a:srgbClr val="FFFFFF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DistilBERT</a:t>
                      </a:r>
                      <a:endParaRPr lang="en-US" sz="1100"/>
                    </a:p>
                  </a:txBody>
                  <a:tcPr marL="54864" marR="54864" marT="54864" marB="54864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32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 spc="66">
                          <a:solidFill>
                            <a:srgbClr val="FFFFFF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XLM-R</a:t>
                      </a:r>
                      <a:endParaRPr lang="en-US" sz="1100"/>
                    </a:p>
                  </a:txBody>
                  <a:tcPr marL="54864" marR="54864" marT="54864" marB="54864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32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947">
                <a:tc>
                  <a:txBody>
                    <a:bodyPr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spc="60">
                          <a:solidFill>
                            <a:srgbClr val="343434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“Yeah, great movie... I almost fell asleep.”</a:t>
                      </a:r>
                      <a:endParaRPr lang="en-US" sz="1100"/>
                    </a:p>
                  </a:txBody>
                  <a:tcPr marL="54864" marR="54864" marT="54864" marB="54864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spc="60">
                          <a:solidFill>
                            <a:srgbClr val="343434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Negativo</a:t>
                      </a:r>
                      <a:endParaRPr lang="en-US" sz="1100"/>
                    </a:p>
                  </a:txBody>
                  <a:tcPr marL="54864" marR="54864" marT="54864" marB="54864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spc="60">
                          <a:solidFill>
                            <a:srgbClr val="343434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Negativo ✓</a:t>
                      </a:r>
                      <a:endParaRPr lang="en-US" sz="1100"/>
                    </a:p>
                  </a:txBody>
                  <a:tcPr marL="54864" marR="54864" marT="54864" marB="54864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spc="60">
                          <a:solidFill>
                            <a:srgbClr val="343434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Positivo ✗</a:t>
                      </a:r>
                      <a:endParaRPr lang="en-US" sz="1100"/>
                    </a:p>
                  </a:txBody>
                  <a:tcPr marL="54864" marR="54864" marT="54864" marB="54864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947">
                <a:tc>
                  <a:txBody>
                    <a:bodyPr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spc="60">
                          <a:solidFill>
                            <a:srgbClr val="343434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“This movie was sick!”</a:t>
                      </a:r>
                      <a:endParaRPr lang="en-US" sz="1100"/>
                    </a:p>
                  </a:txBody>
                  <a:tcPr marL="54864" marR="54864" marT="54864" marB="54864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spc="60">
                          <a:solidFill>
                            <a:srgbClr val="343434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Positivo</a:t>
                      </a:r>
                      <a:endParaRPr lang="en-US" sz="1100"/>
                    </a:p>
                  </a:txBody>
                  <a:tcPr marL="54864" marR="54864" marT="54864" marB="54864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spc="60">
                          <a:solidFill>
                            <a:srgbClr val="343434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Negativo ✗</a:t>
                      </a:r>
                      <a:endParaRPr lang="en-US" sz="1100"/>
                    </a:p>
                  </a:txBody>
                  <a:tcPr marL="54864" marR="54864" marT="54864" marB="54864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spc="60">
                          <a:solidFill>
                            <a:srgbClr val="343434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Negativo ✗</a:t>
                      </a:r>
                      <a:endParaRPr lang="en-US" sz="1100"/>
                    </a:p>
                  </a:txBody>
                  <a:tcPr marL="54864" marR="54864" marT="54864" marB="54864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947">
                <a:tc>
                  <a:txBody>
                    <a:bodyPr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spc="60" dirty="0">
                          <a:solidFill>
                            <a:srgbClr val="343434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“Meh.”</a:t>
                      </a:r>
                      <a:endParaRPr lang="en-US" sz="1100" dirty="0"/>
                    </a:p>
                  </a:txBody>
                  <a:tcPr marL="54864" marR="54864" marT="54864" marB="54864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spc="60">
                          <a:solidFill>
                            <a:srgbClr val="343434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Neutral</a:t>
                      </a:r>
                      <a:endParaRPr lang="en-US" sz="1100"/>
                    </a:p>
                  </a:txBody>
                  <a:tcPr marL="54864" marR="54864" marT="54864" marB="54864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spc="60">
                          <a:solidFill>
                            <a:srgbClr val="343434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Negativo ✗</a:t>
                      </a:r>
                      <a:endParaRPr lang="en-US" sz="1100"/>
                    </a:p>
                  </a:txBody>
                  <a:tcPr marL="54864" marR="54864" marT="54864" marB="54864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spc="60" dirty="0">
                          <a:solidFill>
                            <a:srgbClr val="343434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Neutral ✓</a:t>
                      </a:r>
                      <a:endParaRPr lang="en-US" sz="1100" dirty="0"/>
                    </a:p>
                  </a:txBody>
                  <a:tcPr marL="54864" marR="54864" marT="54864" marB="54864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Box 22"/>
          <p:cNvSpPr txBox="1"/>
          <p:nvPr/>
        </p:nvSpPr>
        <p:spPr>
          <a:xfrm>
            <a:off x="1235402" y="8514147"/>
            <a:ext cx="15502166" cy="306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02"/>
              </a:lnSpc>
            </a:pPr>
            <a:r>
              <a:rPr lang="es-MX" spc="173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Decidimos avanzar con </a:t>
            </a:r>
            <a:r>
              <a:rPr lang="es-MX" spc="173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DistilBERT</a:t>
            </a:r>
            <a:r>
              <a:rPr lang="es-MX" spc="173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, ya que clasifica solamente positivo o negativo y esta enfocado en un solo lenguaje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64725"/>
            <a:chOff x="0" y="0"/>
            <a:chExt cx="24402453" cy="2196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19583"/>
            </a:xfrm>
            <a:custGeom>
              <a:avLst/>
              <a:gdLst/>
              <a:ahLst/>
              <a:cxnLst/>
              <a:rect l="l" t="t" r="r" b="b"/>
              <a:pathLst>
                <a:path w="24402414" h="219583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34024" y="557794"/>
            <a:ext cx="161885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spc="6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04 · IMPLEMENTACIÓN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4024" y="1061476"/>
            <a:ext cx="16325764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spc="-101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Pipeline: inferencia local y tiempos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4024" y="9846583"/>
            <a:ext cx="2666256" cy="12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6"/>
              </a:lnSpc>
            </a:pPr>
            <a:r>
              <a:rPr lang="en-US" sz="847" spc="33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TP Integrador · Análisis de sentimientos · IFTS N.º 18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21311" y="9791671"/>
            <a:ext cx="101203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90"/>
              </a:lnSpc>
            </a:pPr>
            <a:r>
              <a:rPr lang="en-US" sz="1325" spc="53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5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90984" y="2257758"/>
            <a:ext cx="5161817" cy="2347846"/>
            <a:chOff x="0" y="0"/>
            <a:chExt cx="6882422" cy="31304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82384" cy="3130423"/>
            </a:xfrm>
            <a:custGeom>
              <a:avLst/>
              <a:gdLst/>
              <a:ahLst/>
              <a:cxnLst/>
              <a:rect l="l" t="t" r="r" b="b"/>
              <a:pathLst>
                <a:path w="6882384" h="3130423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6360668" y="0"/>
                  </a:lnTo>
                  <a:cubicBezTo>
                    <a:pt x="6648831" y="0"/>
                    <a:pt x="6882384" y="233553"/>
                    <a:pt x="6882384" y="521716"/>
                  </a:cubicBezTo>
                  <a:lnTo>
                    <a:pt x="6882384" y="2608707"/>
                  </a:lnTo>
                  <a:cubicBezTo>
                    <a:pt x="6882384" y="2896870"/>
                    <a:pt x="6648831" y="3130423"/>
                    <a:pt x="6360668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F2F7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65159" y="2255200"/>
            <a:ext cx="2848832" cy="352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spc="18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Primera </a:t>
            </a:r>
            <a:r>
              <a:rPr lang="en-US" sz="2251" spc="18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ejecución</a:t>
            </a:r>
            <a:endParaRPr lang="en-US" sz="2251" spc="180" dirty="0">
              <a:solidFill>
                <a:srgbClr val="343434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098137" y="2264912"/>
            <a:ext cx="96088" cy="2333539"/>
            <a:chOff x="0" y="0"/>
            <a:chExt cx="128118" cy="311138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8143" cy="3111373"/>
            </a:xfrm>
            <a:custGeom>
              <a:avLst/>
              <a:gdLst/>
              <a:ahLst/>
              <a:cxnLst/>
              <a:rect l="l" t="t" r="r" b="b"/>
              <a:pathLst>
                <a:path w="128143" h="3111373">
                  <a:moveTo>
                    <a:pt x="0" y="0"/>
                  </a:moveTo>
                  <a:lnTo>
                    <a:pt x="128143" y="0"/>
                  </a:lnTo>
                  <a:lnTo>
                    <a:pt x="128143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F13223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581680" y="2257758"/>
            <a:ext cx="5161817" cy="2347846"/>
            <a:chOff x="0" y="0"/>
            <a:chExt cx="6882422" cy="313046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82384" cy="3130423"/>
            </a:xfrm>
            <a:custGeom>
              <a:avLst/>
              <a:gdLst/>
              <a:ahLst/>
              <a:cxnLst/>
              <a:rect l="l" t="t" r="r" b="b"/>
              <a:pathLst>
                <a:path w="6882384" h="3130423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6360668" y="0"/>
                  </a:lnTo>
                  <a:cubicBezTo>
                    <a:pt x="6648831" y="0"/>
                    <a:pt x="6882384" y="233553"/>
                    <a:pt x="6882384" y="521716"/>
                  </a:cubicBezTo>
                  <a:lnTo>
                    <a:pt x="6882384" y="2608707"/>
                  </a:lnTo>
                  <a:cubicBezTo>
                    <a:pt x="6882384" y="2896870"/>
                    <a:pt x="6648831" y="3130423"/>
                    <a:pt x="6360668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F2F7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902568" y="2256233"/>
            <a:ext cx="3758936" cy="352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spc="18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DistilBERT</a:t>
            </a:r>
            <a:r>
              <a:rPr lang="en-US" sz="2251" spc="18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· 8 </a:t>
            </a:r>
            <a:r>
              <a:rPr lang="en-US" sz="2251" spc="18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frases</a:t>
            </a:r>
            <a:endParaRPr lang="en-US" sz="2251" spc="180" dirty="0">
              <a:solidFill>
                <a:srgbClr val="343434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909064" y="3134211"/>
            <a:ext cx="4507059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72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0,3697 s total</a:t>
            </a:r>
          </a:p>
          <a:p>
            <a:pPr algn="l">
              <a:lnSpc>
                <a:spcPts val="2161"/>
              </a:lnSpc>
            </a:pPr>
            <a:r>
              <a:rPr lang="en-US" sz="1801" spc="72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0,0462 s promedio por frase.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588824" y="2264912"/>
            <a:ext cx="96088" cy="2333539"/>
            <a:chOff x="0" y="0"/>
            <a:chExt cx="128118" cy="311138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143" cy="3111373"/>
            </a:xfrm>
            <a:custGeom>
              <a:avLst/>
              <a:gdLst/>
              <a:ahLst/>
              <a:cxnLst/>
              <a:rect l="l" t="t" r="r" b="b"/>
              <a:pathLst>
                <a:path w="128143" h="3111373">
                  <a:moveTo>
                    <a:pt x="0" y="0"/>
                  </a:moveTo>
                  <a:lnTo>
                    <a:pt x="128143" y="0"/>
                  </a:lnTo>
                  <a:lnTo>
                    <a:pt x="128143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F13223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072366" y="2257758"/>
            <a:ext cx="5161817" cy="2347846"/>
            <a:chOff x="0" y="0"/>
            <a:chExt cx="6882422" cy="313046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882384" cy="3130423"/>
            </a:xfrm>
            <a:custGeom>
              <a:avLst/>
              <a:gdLst/>
              <a:ahLst/>
              <a:cxnLst/>
              <a:rect l="l" t="t" r="r" b="b"/>
              <a:pathLst>
                <a:path w="6882384" h="3130423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6360668" y="0"/>
                  </a:lnTo>
                  <a:cubicBezTo>
                    <a:pt x="6648831" y="0"/>
                    <a:pt x="6882384" y="233553"/>
                    <a:pt x="6882384" y="521716"/>
                  </a:cubicBezTo>
                  <a:lnTo>
                    <a:pt x="6882384" y="2608707"/>
                  </a:lnTo>
                  <a:cubicBezTo>
                    <a:pt x="6882384" y="2896870"/>
                    <a:pt x="6648831" y="3130423"/>
                    <a:pt x="6360668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F2F7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2389253" y="2255200"/>
            <a:ext cx="2840250" cy="352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spc="18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XLM-R · 8 </a:t>
            </a:r>
            <a:r>
              <a:rPr lang="en-US" sz="2251" spc="18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frases</a:t>
            </a:r>
            <a:endParaRPr lang="en-US" sz="2251" spc="180" dirty="0">
              <a:solidFill>
                <a:srgbClr val="343434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399750" y="3134211"/>
            <a:ext cx="4507059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72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0,6581 s total</a:t>
            </a:r>
          </a:p>
          <a:p>
            <a:pPr algn="l">
              <a:lnSpc>
                <a:spcPts val="2161"/>
              </a:lnSpc>
            </a:pPr>
            <a:r>
              <a:rPr lang="en-US" sz="1801" spc="72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0,0823 s promedio por frase.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079519" y="2264912"/>
            <a:ext cx="96088" cy="2333539"/>
            <a:chOff x="0" y="0"/>
            <a:chExt cx="128118" cy="311138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8143" cy="3111373"/>
            </a:xfrm>
            <a:custGeom>
              <a:avLst/>
              <a:gdLst/>
              <a:ahLst/>
              <a:cxnLst/>
              <a:rect l="l" t="t" r="r" b="b"/>
              <a:pathLst>
                <a:path w="128143" h="3111373">
                  <a:moveTo>
                    <a:pt x="0" y="0"/>
                  </a:moveTo>
                  <a:lnTo>
                    <a:pt x="128143" y="0"/>
                  </a:lnTo>
                  <a:lnTo>
                    <a:pt x="128143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F13223"/>
            </a:solid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77191" y="5776023"/>
            <a:ext cx="3652009" cy="333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2210" spc="176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¿</a:t>
            </a:r>
            <a:r>
              <a:rPr lang="en-US" sz="2210" spc="176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Qué</a:t>
            </a:r>
            <a:r>
              <a:rPr lang="en-US" sz="2210" spc="176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2210" spc="176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devuelve</a:t>
            </a:r>
            <a:r>
              <a:rPr lang="en-US" sz="2210" spc="176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pipeline?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18368" y="6490596"/>
            <a:ext cx="1522762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02"/>
              </a:lnSpc>
            </a:pPr>
            <a:r>
              <a:rPr lang="es-MX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El modelo Retorna una lista que contiene un diccionario. Para extraer el resultado en Python, se accede a las claves con: resultado[0]["</a:t>
            </a:r>
            <a:r>
              <a:rPr lang="es-MX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label</a:t>
            </a:r>
            <a:r>
              <a:rPr lang="es-MX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"] para obtener la etiqueta (ej. POSITIVE o NEGATIVE).  Resultado[0]["score"] para obtener el puntaje o probabilidad de confianza.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77191" y="8661883"/>
            <a:ext cx="8875663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spc="66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Las mediciones dependen del entorno y no son una garantía de rendimiento en producción.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7277AC1-6396-9CA7-2022-058970900B4B}"/>
              </a:ext>
            </a:extLst>
          </p:cNvPr>
          <p:cNvSpPr txBox="1"/>
          <p:nvPr/>
        </p:nvSpPr>
        <p:spPr>
          <a:xfrm>
            <a:off x="1262587" y="2643451"/>
            <a:ext cx="5161788" cy="642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61"/>
              </a:lnSpc>
            </a:pPr>
            <a:r>
              <a:rPr lang="es-MX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Utilizamos pipeline  de la librería Transformers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E110D65-4E83-67FB-879A-6EE9186FB731}"/>
              </a:ext>
            </a:extLst>
          </p:cNvPr>
          <p:cNvSpPr txBox="1"/>
          <p:nvPr/>
        </p:nvSpPr>
        <p:spPr>
          <a:xfrm>
            <a:off x="1262587" y="3253129"/>
            <a:ext cx="5317579" cy="1488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61"/>
              </a:lnSpc>
            </a:pPr>
            <a:r>
              <a:rPr lang="es-MX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El pipeline recibe directamente el texto ingresado por el usuario y en conjunto con el data set corpus sst2 4 y al modelo, el sistema web devuelve una estructura de datos lista para usar</a:t>
            </a:r>
            <a:endParaRPr lang="en-US" sz="1801" spc="72" dirty="0">
              <a:solidFill>
                <a:srgbClr val="343434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64725"/>
            <a:chOff x="0" y="0"/>
            <a:chExt cx="24402453" cy="2196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19583"/>
            </a:xfrm>
            <a:custGeom>
              <a:avLst/>
              <a:gdLst/>
              <a:ahLst/>
              <a:cxnLst/>
              <a:rect l="l" t="t" r="r" b="b"/>
              <a:pathLst>
                <a:path w="24402414" h="219583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34024" y="557794"/>
            <a:ext cx="161885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spc="6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05 · PRUEBAS Y DIAGNÓSTICO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4024" y="1061476"/>
            <a:ext cx="16325764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spc="-101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InferenceClient y errores reales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4024" y="9846583"/>
            <a:ext cx="2666256" cy="12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6"/>
              </a:lnSpc>
            </a:pPr>
            <a:r>
              <a:rPr lang="en-US" sz="847" spc="33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TP Integrador · Análisis de sentimientos · IFTS N.º 18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22948" y="9791671"/>
            <a:ext cx="99566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90"/>
              </a:lnSpc>
            </a:pPr>
            <a:r>
              <a:rPr lang="en-US" sz="1325" spc="53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59621" y="2257758"/>
            <a:ext cx="7701267" cy="2759640"/>
            <a:chOff x="0" y="0"/>
            <a:chExt cx="10268356" cy="3679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68331" cy="3679571"/>
            </a:xfrm>
            <a:custGeom>
              <a:avLst/>
              <a:gdLst/>
              <a:ahLst/>
              <a:cxnLst/>
              <a:rect l="l" t="t" r="r" b="b"/>
              <a:pathLst>
                <a:path w="10268331" h="367957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9655048" y="0"/>
                  </a:lnTo>
                  <a:cubicBezTo>
                    <a:pt x="9993757" y="0"/>
                    <a:pt x="10268331" y="274574"/>
                    <a:pt x="10268331" y="613283"/>
                  </a:cubicBezTo>
                  <a:lnTo>
                    <a:pt x="10268331" y="3066288"/>
                  </a:lnTo>
                  <a:cubicBezTo>
                    <a:pt x="10268331" y="3404997"/>
                    <a:pt x="9993757" y="3679571"/>
                    <a:pt x="9655048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F2F7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87005" y="2520715"/>
            <a:ext cx="3870573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spc="18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InferenceClient · HTTP 402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87005" y="3134211"/>
            <a:ext cx="7046500" cy="831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El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proveedor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indicó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que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no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quedaban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créditos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de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inferencia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, </a:t>
            </a:r>
            <a:r>
              <a:rPr lang="es-MX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por eso no pudimos completar la solicitud ni medir una</a:t>
            </a:r>
          </a:p>
          <a:p>
            <a:pPr algn="l">
              <a:lnSpc>
                <a:spcPct val="100000"/>
              </a:lnSpc>
            </a:pPr>
            <a:r>
              <a:rPr lang="es-MX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latencia remota válida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. 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66774" y="2264912"/>
            <a:ext cx="96088" cy="2745343"/>
            <a:chOff x="0" y="0"/>
            <a:chExt cx="128118" cy="36604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8143" cy="3660521"/>
            </a:xfrm>
            <a:custGeom>
              <a:avLst/>
              <a:gdLst/>
              <a:ahLst/>
              <a:cxnLst/>
              <a:rect l="l" t="t" r="r" b="b"/>
              <a:pathLst>
                <a:path w="128143" h="3660521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FA6559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95660" y="2257758"/>
            <a:ext cx="7701267" cy="2759640"/>
            <a:chOff x="0" y="0"/>
            <a:chExt cx="10268356" cy="3679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268331" cy="3679571"/>
            </a:xfrm>
            <a:custGeom>
              <a:avLst/>
              <a:gdLst/>
              <a:ahLst/>
              <a:cxnLst/>
              <a:rect l="l" t="t" r="r" b="b"/>
              <a:pathLst>
                <a:path w="10268331" h="367957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9655048" y="0"/>
                  </a:lnTo>
                  <a:cubicBezTo>
                    <a:pt x="9993757" y="0"/>
                    <a:pt x="10268331" y="274574"/>
                    <a:pt x="10268331" y="613283"/>
                  </a:cubicBezTo>
                  <a:lnTo>
                    <a:pt x="10268331" y="3066288"/>
                  </a:lnTo>
                  <a:cubicBezTo>
                    <a:pt x="10268331" y="3404997"/>
                    <a:pt x="9993757" y="3679571"/>
                    <a:pt x="9655048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F2F7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723034" y="2520715"/>
            <a:ext cx="2621366" cy="352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spc="18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Otros</a:t>
            </a:r>
            <a:r>
              <a:rPr lang="en-US" sz="2251" spc="18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2251" spc="18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errores</a:t>
            </a:r>
            <a:endParaRPr lang="en-US" sz="2251" spc="180" dirty="0">
              <a:solidFill>
                <a:srgbClr val="343434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723034" y="3134211"/>
            <a:ext cx="7046500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Problemas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de carga/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tokenizador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en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un checkpoint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inicial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; HTTP 401 al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validar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credenciales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;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rechazo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GH013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por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detección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de tokens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en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el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historial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de GitHub.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402804" y="2264912"/>
            <a:ext cx="96088" cy="2745343"/>
            <a:chOff x="0" y="0"/>
            <a:chExt cx="128118" cy="366045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143" cy="3660521"/>
            </a:xfrm>
            <a:custGeom>
              <a:avLst/>
              <a:gdLst/>
              <a:ahLst/>
              <a:cxnLst/>
              <a:rect l="l" t="t" r="r" b="b"/>
              <a:pathLst>
                <a:path w="128143" h="3660521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F13223"/>
            </a:solid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77191" y="5769740"/>
            <a:ext cx="1477566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8"/>
              </a:lnSpc>
            </a:pPr>
            <a:r>
              <a:rPr lang="en-US" sz="2673" spc="213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Decisión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77191" y="6534236"/>
            <a:ext cx="15502166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spc="96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Elegimos pipeline para la aplicación porque ejecuta el modelo en el entorno de Streamlit y no depende de créditos de un proveedor remoto. A cambio, requiere memoria y recursos suficientes para cargar los pesos.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77191" y="8515083"/>
            <a:ext cx="1550216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72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Los tokens son credenciales: no deben guardarse en el código ni publicarse en el repositorio.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64725"/>
            <a:chOff x="0" y="0"/>
            <a:chExt cx="24402453" cy="2196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19583"/>
            </a:xfrm>
            <a:custGeom>
              <a:avLst/>
              <a:gdLst/>
              <a:ahLst/>
              <a:cxnLst/>
              <a:rect l="l" t="t" r="r" b="b"/>
              <a:pathLst>
                <a:path w="24402414" h="219583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34024" y="557794"/>
            <a:ext cx="161885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spc="6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06 · APLICACIÓN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4024" y="1061476"/>
            <a:ext cx="16325764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spc="-101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Arquitectura y despliegue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4024" y="9846583"/>
            <a:ext cx="2666256" cy="12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6"/>
              </a:lnSpc>
            </a:pPr>
            <a:r>
              <a:rPr lang="en-US" sz="847" spc="33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TP Integrador · Análisis de sentimientos · IFTS N.º 18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37087" y="9791671"/>
            <a:ext cx="85427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90"/>
              </a:lnSpc>
            </a:pPr>
            <a:r>
              <a:rPr lang="en-US" sz="1325" spc="53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7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90984" y="2395023"/>
            <a:ext cx="5024552" cy="2485111"/>
            <a:chOff x="0" y="0"/>
            <a:chExt cx="6699402" cy="33134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99377" cy="3313430"/>
            </a:xfrm>
            <a:custGeom>
              <a:avLst/>
              <a:gdLst/>
              <a:ahLst/>
              <a:cxnLst/>
              <a:rect l="l" t="t" r="r" b="b"/>
              <a:pathLst>
                <a:path w="6699377" h="3313430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147181" y="0"/>
                  </a:lnTo>
                  <a:cubicBezTo>
                    <a:pt x="6452235" y="0"/>
                    <a:pt x="6699377" y="247269"/>
                    <a:pt x="6699377" y="552196"/>
                  </a:cubicBezTo>
                  <a:lnTo>
                    <a:pt x="6699377" y="2761234"/>
                  </a:lnTo>
                  <a:cubicBezTo>
                    <a:pt x="6699377" y="3066288"/>
                    <a:pt x="6452108" y="3313430"/>
                    <a:pt x="6147181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F2F7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18368" y="2657980"/>
            <a:ext cx="1705832" cy="352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spc="18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1 · </a:t>
            </a:r>
            <a:r>
              <a:rPr lang="en-US" sz="2251" spc="18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Usuario</a:t>
            </a:r>
            <a:endParaRPr lang="en-US" sz="2251" spc="180" dirty="0">
              <a:solidFill>
                <a:srgbClr val="343434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18358" y="3467652"/>
            <a:ext cx="436978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Escribe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una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opinión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desde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el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navegador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98137" y="2402176"/>
            <a:ext cx="96088" cy="2470814"/>
            <a:chOff x="0" y="0"/>
            <a:chExt cx="128118" cy="32944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8143" cy="3294380"/>
            </a:xfrm>
            <a:custGeom>
              <a:avLst/>
              <a:gdLst/>
              <a:ahLst/>
              <a:cxnLst/>
              <a:rect l="l" t="t" r="r" b="b"/>
              <a:pathLst>
                <a:path w="128143" h="3294380">
                  <a:moveTo>
                    <a:pt x="0" y="0"/>
                  </a:moveTo>
                  <a:lnTo>
                    <a:pt x="128143" y="0"/>
                  </a:lnTo>
                  <a:lnTo>
                    <a:pt x="128143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F13223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50307" y="2395023"/>
            <a:ext cx="5024552" cy="2485111"/>
            <a:chOff x="0" y="0"/>
            <a:chExt cx="6699402" cy="33134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699377" cy="3313430"/>
            </a:xfrm>
            <a:custGeom>
              <a:avLst/>
              <a:gdLst/>
              <a:ahLst/>
              <a:cxnLst/>
              <a:rect l="l" t="t" r="r" b="b"/>
              <a:pathLst>
                <a:path w="6699377" h="3313430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147181" y="0"/>
                  </a:lnTo>
                  <a:cubicBezTo>
                    <a:pt x="6452235" y="0"/>
                    <a:pt x="6699377" y="247269"/>
                    <a:pt x="6699377" y="552196"/>
                  </a:cubicBezTo>
                  <a:lnTo>
                    <a:pt x="6699377" y="2761234"/>
                  </a:lnTo>
                  <a:cubicBezTo>
                    <a:pt x="6699377" y="3066288"/>
                    <a:pt x="6452108" y="3313430"/>
                    <a:pt x="6147181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F2F7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977690" y="2657980"/>
            <a:ext cx="3080709" cy="352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spc="18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2 · </a:t>
            </a:r>
            <a:r>
              <a:rPr lang="en-US" sz="2251" spc="18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Streamlit</a:t>
            </a:r>
            <a:r>
              <a:rPr lang="en-US" sz="2251" spc="18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Cloud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77691" y="3271476"/>
            <a:ext cx="436978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72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Ejecuta app.py y calcula la predicción.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657461" y="2402176"/>
            <a:ext cx="96088" cy="2470814"/>
            <a:chOff x="0" y="0"/>
            <a:chExt cx="128118" cy="329441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143" cy="3294380"/>
            </a:xfrm>
            <a:custGeom>
              <a:avLst/>
              <a:gdLst/>
              <a:ahLst/>
              <a:cxnLst/>
              <a:rect l="l" t="t" r="r" b="b"/>
              <a:pathLst>
                <a:path w="128143" h="3294380">
                  <a:moveTo>
                    <a:pt x="0" y="0"/>
                  </a:moveTo>
                  <a:lnTo>
                    <a:pt x="128143" y="0"/>
                  </a:lnTo>
                  <a:lnTo>
                    <a:pt x="128143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F13223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209631" y="2395023"/>
            <a:ext cx="5024552" cy="2485111"/>
            <a:chOff x="0" y="0"/>
            <a:chExt cx="6699402" cy="331348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699377" cy="3313430"/>
            </a:xfrm>
            <a:custGeom>
              <a:avLst/>
              <a:gdLst/>
              <a:ahLst/>
              <a:cxnLst/>
              <a:rect l="l" t="t" r="r" b="b"/>
              <a:pathLst>
                <a:path w="6699377" h="3313430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147181" y="0"/>
                  </a:lnTo>
                  <a:cubicBezTo>
                    <a:pt x="6452235" y="0"/>
                    <a:pt x="6699377" y="247269"/>
                    <a:pt x="6699377" y="552196"/>
                  </a:cubicBezTo>
                  <a:lnTo>
                    <a:pt x="6699377" y="2761234"/>
                  </a:lnTo>
                  <a:cubicBezTo>
                    <a:pt x="6699377" y="3066288"/>
                    <a:pt x="6452108" y="3313430"/>
                    <a:pt x="6147181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F2F7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2537015" y="2657980"/>
            <a:ext cx="3237012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spc="18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3 · Hugging Face Hub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537015" y="3271476"/>
            <a:ext cx="4369784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72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Aloja los pesos que se descargan al iniciar.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216784" y="2402176"/>
            <a:ext cx="96088" cy="2470814"/>
            <a:chOff x="0" y="0"/>
            <a:chExt cx="128118" cy="329441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8143" cy="3294380"/>
            </a:xfrm>
            <a:custGeom>
              <a:avLst/>
              <a:gdLst/>
              <a:ahLst/>
              <a:cxnLst/>
              <a:rect l="l" t="t" r="r" b="b"/>
              <a:pathLst>
                <a:path w="128143" h="3294380">
                  <a:moveTo>
                    <a:pt x="0" y="0"/>
                  </a:moveTo>
                  <a:lnTo>
                    <a:pt x="128143" y="0"/>
                  </a:lnTo>
                  <a:lnTo>
                    <a:pt x="128143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F13223"/>
            </a:solid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77191" y="5769740"/>
            <a:ext cx="6312694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8"/>
              </a:lnSpc>
            </a:pPr>
            <a:r>
              <a:rPr lang="en-US" sz="2673" spc="213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¿Por qué Streamlit Community Cloud?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77191" y="6758966"/>
            <a:ext cx="1522762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Permite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publicar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una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interfaz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Python </a:t>
            </a: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conectada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al </a:t>
            </a: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repositorio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de GitHub.</a:t>
            </a:r>
          </a:p>
          <a:p>
            <a:pPr algn="l">
              <a:lnSpc>
                <a:spcPts val="2702"/>
              </a:lnSpc>
            </a:pP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Render y Hugging Face Spaces son </a:t>
            </a: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alternativas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; se </a:t>
            </a: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deben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comparar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memoria, </a:t>
            </a: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arranque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en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frío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, </a:t>
            </a: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cuotas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y </a:t>
            </a: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límites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.</a:t>
            </a:r>
          </a:p>
          <a:p>
            <a:pPr algn="l">
              <a:lnSpc>
                <a:spcPts val="2702"/>
              </a:lnSpc>
            </a:pP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El primer </a:t>
            </a: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acceso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puede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tardar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por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el </a:t>
            </a: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arranque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o la </a:t>
            </a: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descarga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del </a:t>
            </a:r>
            <a:r>
              <a:rPr lang="en-US" sz="2251" spc="9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modelo</a:t>
            </a:r>
            <a:r>
              <a:rPr lang="en-US" sz="2251" spc="9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64725"/>
            <a:chOff x="0" y="0"/>
            <a:chExt cx="24402453" cy="2196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19583"/>
            </a:xfrm>
            <a:custGeom>
              <a:avLst/>
              <a:gdLst/>
              <a:ahLst/>
              <a:cxnLst/>
              <a:rect l="l" t="t" r="r" b="b"/>
              <a:pathLst>
                <a:path w="24402414" h="219583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90984" y="2326396"/>
            <a:ext cx="5161817" cy="2759640"/>
            <a:chOff x="0" y="0"/>
            <a:chExt cx="6882422" cy="36795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882384" cy="3679571"/>
            </a:xfrm>
            <a:custGeom>
              <a:avLst/>
              <a:gdLst/>
              <a:ahLst/>
              <a:cxnLst/>
              <a:rect l="l" t="t" r="r" b="b"/>
              <a:pathLst>
                <a:path w="6882384" h="367957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F2F7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98137" y="2333539"/>
            <a:ext cx="96088" cy="2745343"/>
            <a:chOff x="0" y="0"/>
            <a:chExt cx="128118" cy="36604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143" cy="3660521"/>
            </a:xfrm>
            <a:custGeom>
              <a:avLst/>
              <a:gdLst/>
              <a:ahLst/>
              <a:cxnLst/>
              <a:rect l="l" t="t" r="r" b="b"/>
              <a:pathLst>
                <a:path w="128143" h="3660521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F13223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81680" y="2326396"/>
            <a:ext cx="5161817" cy="2759640"/>
            <a:chOff x="0" y="0"/>
            <a:chExt cx="6882422" cy="3679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82384" cy="3679571"/>
            </a:xfrm>
            <a:custGeom>
              <a:avLst/>
              <a:gdLst/>
              <a:ahLst/>
              <a:cxnLst/>
              <a:rect l="l" t="t" r="r" b="b"/>
              <a:pathLst>
                <a:path w="6882384" h="367957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F2F7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588824" y="2333539"/>
            <a:ext cx="96088" cy="2745343"/>
            <a:chOff x="0" y="0"/>
            <a:chExt cx="128118" cy="366045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8143" cy="3660521"/>
            </a:xfrm>
            <a:custGeom>
              <a:avLst/>
              <a:gdLst/>
              <a:ahLst/>
              <a:cxnLst/>
              <a:rect l="l" t="t" r="r" b="b"/>
              <a:pathLst>
                <a:path w="128143" h="3660521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F13223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072366" y="2326396"/>
            <a:ext cx="5161817" cy="2759640"/>
            <a:chOff x="0" y="0"/>
            <a:chExt cx="6882422" cy="3679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82384" cy="3679571"/>
            </a:xfrm>
            <a:custGeom>
              <a:avLst/>
              <a:gdLst/>
              <a:ahLst/>
              <a:cxnLst/>
              <a:rect l="l" t="t" r="r" b="b"/>
              <a:pathLst>
                <a:path w="6882384" h="367957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F2F7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079519" y="2333539"/>
            <a:ext cx="96088" cy="2745343"/>
            <a:chOff x="0" y="0"/>
            <a:chExt cx="128118" cy="36604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143" cy="3660521"/>
            </a:xfrm>
            <a:custGeom>
              <a:avLst/>
              <a:gdLst/>
              <a:ahLst/>
              <a:cxnLst/>
              <a:rect l="l" t="t" r="r" b="b"/>
              <a:pathLst>
                <a:path w="128143" h="3660521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F13223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96907" y="5156735"/>
            <a:ext cx="8636779" cy="4818083"/>
            <a:chOff x="0" y="0"/>
            <a:chExt cx="9738347" cy="5432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738360" cy="5432625"/>
            </a:xfrm>
            <a:custGeom>
              <a:avLst/>
              <a:gdLst/>
              <a:ahLst/>
              <a:cxnLst/>
              <a:rect l="l" t="t" r="r" b="b"/>
              <a:pathLst>
                <a:path w="9738360" h="5432625">
                  <a:moveTo>
                    <a:pt x="0" y="905489"/>
                  </a:moveTo>
                  <a:cubicBezTo>
                    <a:pt x="0" y="405372"/>
                    <a:pt x="337439" y="0"/>
                    <a:pt x="753745" y="0"/>
                  </a:cubicBezTo>
                  <a:lnTo>
                    <a:pt x="8984614" y="0"/>
                  </a:lnTo>
                  <a:cubicBezTo>
                    <a:pt x="9400921" y="0"/>
                    <a:pt x="9738360" y="405372"/>
                    <a:pt x="9738360" y="905489"/>
                  </a:cubicBezTo>
                  <a:lnTo>
                    <a:pt x="9738360" y="4527141"/>
                  </a:lnTo>
                  <a:cubicBezTo>
                    <a:pt x="9738360" y="5027258"/>
                    <a:pt x="9400921" y="5432625"/>
                    <a:pt x="8984614" y="5432625"/>
                  </a:cubicBezTo>
                  <a:lnTo>
                    <a:pt x="753745" y="5432625"/>
                  </a:lnTo>
                  <a:cubicBezTo>
                    <a:pt x="337439" y="5432625"/>
                    <a:pt x="0" y="5027258"/>
                    <a:pt x="0" y="4527141"/>
                  </a:cubicBezTo>
                  <a:close/>
                </a:path>
              </a:pathLst>
            </a:custGeom>
            <a:blipFill>
              <a:blip r:embed="rId2"/>
              <a:stretch>
                <a:fillRect t="-12303" b="-12303"/>
              </a:stretch>
            </a:blipFill>
            <a:ln w="28597" cap="sq">
              <a:solidFill>
                <a:srgbClr val="50647D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9738347" cy="5423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2"/>
                </a:lnSpc>
              </a:pPr>
              <a:endParaRPr/>
            </a:p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34024" y="557794"/>
            <a:ext cx="161885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spc="6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07 · CIERRE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4024" y="1061476"/>
            <a:ext cx="16325764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spc="-101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Conclusiones y próximos pasos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4024" y="9846583"/>
            <a:ext cx="2666256" cy="12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6"/>
              </a:lnSpc>
            </a:pPr>
            <a:r>
              <a:rPr lang="en-US" sz="847" spc="33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TP Integrador · Análisis de sentimientos · IFTS N.º 18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122502" y="9791671"/>
            <a:ext cx="100012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90"/>
              </a:lnSpc>
            </a:pPr>
            <a:r>
              <a:rPr lang="en-US" sz="1325" spc="53">
                <a:solidFill>
                  <a:srgbClr val="FFFFFF"/>
                </a:solidFill>
                <a:latin typeface="Didact Gothic"/>
                <a:ea typeface="Didact Gothic"/>
                <a:cs typeface="Didact Gothic"/>
                <a:sym typeface="Didact Gothic"/>
              </a:rPr>
              <a:t>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18368" y="2589343"/>
            <a:ext cx="2620232" cy="352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spc="18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Qué</a:t>
            </a:r>
            <a:r>
              <a:rPr lang="en-US" sz="2251" spc="18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2251" spc="18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logramos</a:t>
            </a:r>
            <a:endParaRPr lang="en-US" sz="2251" spc="180" dirty="0">
              <a:solidFill>
                <a:srgbClr val="343434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18368" y="3351838"/>
            <a:ext cx="4507059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Comparamos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dos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modelos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,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inspeccionamos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salidas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,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medimos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inferencia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y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desplegamos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una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app.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09064" y="2589343"/>
            <a:ext cx="2920736" cy="352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spc="18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Qué</a:t>
            </a:r>
            <a:r>
              <a:rPr lang="en-US" sz="2251" spc="18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2251" spc="18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aprendimos</a:t>
            </a:r>
            <a:endParaRPr lang="en-US" sz="2251" spc="180" dirty="0">
              <a:solidFill>
                <a:srgbClr val="343434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909055" y="3312175"/>
            <a:ext cx="4507059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Una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etiqueta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y un score no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garantizan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comprensión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de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ironía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,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jerga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o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frases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mixtas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99750" y="2589343"/>
            <a:ext cx="1544850" cy="352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spc="18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Qué</a:t>
            </a:r>
            <a:r>
              <a:rPr lang="en-US" sz="2251" spc="180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2251" spc="180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falta</a:t>
            </a:r>
            <a:endParaRPr lang="en-US" sz="2251" spc="180" dirty="0">
              <a:solidFill>
                <a:srgbClr val="343434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399750" y="3298443"/>
            <a:ext cx="4507059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Ampliar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la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muestra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,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probar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más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condiciones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y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medir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memoria,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latencia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 y </a:t>
            </a:r>
            <a:r>
              <a:rPr lang="en-US" sz="1801" spc="72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concurrencia</a:t>
            </a:r>
            <a:r>
              <a:rPr lang="en-US" sz="1801" spc="72" dirty="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95479" y="5614568"/>
            <a:ext cx="764135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spc="192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Aplicación publicada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95479" y="6195289"/>
            <a:ext cx="76413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u="sng" spc="78" dirty="0" err="1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  <a:hlinkClick r:id="rId3" tooltip="https://tp-integrador-sentimientos.streamlit.app"/>
              </a:rPr>
              <a:t>tp-integrador-sentimientos.streamlit.app</a:t>
            </a:r>
            <a:endParaRPr lang="en-US" sz="1951" u="sng" spc="78" dirty="0">
              <a:solidFill>
                <a:srgbClr val="343434"/>
              </a:solidFill>
              <a:latin typeface="Didact Gothic"/>
              <a:ea typeface="Didact Gothic"/>
              <a:cs typeface="Didact Gothic"/>
              <a:sym typeface="Didact Gothic"/>
              <a:hlinkClick r:id="rId3" tooltip="https://tp-integrador-sentimientos.streamlit.app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395479" y="7064273"/>
            <a:ext cx="764135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spc="18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Repositorio GitHub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95479" y="7632392"/>
            <a:ext cx="764135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u="sng" spc="66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  <a:hlinkClick r:id="rId4" tooltip="https://github.com/Lukit4as/portfolio-seminario/tree/main/TP_Integrador"/>
              </a:rPr>
              <a:t>github.com/Lukit4as/portfolio-seminario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95479" y="8446475"/>
            <a:ext cx="7641355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1610" spc="64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Conclusión: el contexto importa; el score no garantiza una interpretación correcta.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83029" y="4198016"/>
            <a:ext cx="2921942" cy="1890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262"/>
              </a:lnSpc>
            </a:pPr>
            <a:r>
              <a:rPr lang="en-US" sz="10901" spc="-272" dirty="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FIN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34024" y="9846583"/>
            <a:ext cx="2666256" cy="12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6"/>
              </a:lnSpc>
            </a:pPr>
            <a:r>
              <a:rPr lang="en-US" sz="847" spc="33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TP Integrador · Análisis de sentimientos · IFTS N.º 18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452186" y="960872"/>
            <a:ext cx="3568951" cy="3568951"/>
            <a:chOff x="0" y="0"/>
            <a:chExt cx="4758601" cy="47586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58563" cy="4758563"/>
            </a:xfrm>
            <a:custGeom>
              <a:avLst/>
              <a:gdLst/>
              <a:ahLst/>
              <a:cxnLst/>
              <a:rect l="l" t="t" r="r" b="b"/>
              <a:pathLst>
                <a:path w="4758563" h="4758563">
                  <a:moveTo>
                    <a:pt x="0" y="2379345"/>
                  </a:moveTo>
                  <a:cubicBezTo>
                    <a:pt x="0" y="1065276"/>
                    <a:pt x="1065276" y="0"/>
                    <a:pt x="2379345" y="0"/>
                  </a:cubicBezTo>
                  <a:cubicBezTo>
                    <a:pt x="3693414" y="0"/>
                    <a:pt x="4758563" y="1065276"/>
                    <a:pt x="4758563" y="2379345"/>
                  </a:cubicBezTo>
                  <a:cubicBezTo>
                    <a:pt x="4758563" y="3693414"/>
                    <a:pt x="3693287" y="4758563"/>
                    <a:pt x="2379345" y="4758563"/>
                  </a:cubicBezTo>
                  <a:cubicBezTo>
                    <a:pt x="1065403" y="4758563"/>
                    <a:pt x="0" y="3693287"/>
                    <a:pt x="0" y="2379345"/>
                  </a:cubicBezTo>
                  <a:close/>
                </a:path>
              </a:pathLst>
            </a:custGeom>
            <a:solidFill>
              <a:srgbClr val="343434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824862" y="2882608"/>
            <a:ext cx="2059010" cy="2059010"/>
            <a:chOff x="0" y="0"/>
            <a:chExt cx="2745346" cy="27453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45359" cy="2745359"/>
            </a:xfrm>
            <a:custGeom>
              <a:avLst/>
              <a:gdLst/>
              <a:ahLst/>
              <a:cxnLst/>
              <a:rect l="l" t="t" r="r" b="b"/>
              <a:pathLst>
                <a:path w="2745359" h="2745359">
                  <a:moveTo>
                    <a:pt x="0" y="1372616"/>
                  </a:moveTo>
                  <a:cubicBezTo>
                    <a:pt x="0" y="614553"/>
                    <a:pt x="614553" y="0"/>
                    <a:pt x="1372616" y="0"/>
                  </a:cubicBezTo>
                  <a:cubicBezTo>
                    <a:pt x="2130679" y="0"/>
                    <a:pt x="2745359" y="614553"/>
                    <a:pt x="2745359" y="1372616"/>
                  </a:cubicBezTo>
                  <a:cubicBezTo>
                    <a:pt x="2745359" y="2130679"/>
                    <a:pt x="2130806" y="2745359"/>
                    <a:pt x="1372616" y="2745359"/>
                  </a:cubicBezTo>
                  <a:cubicBezTo>
                    <a:pt x="614426" y="2745359"/>
                    <a:pt x="0" y="2130806"/>
                    <a:pt x="0" y="1372616"/>
                  </a:cubicBezTo>
                  <a:close/>
                </a:path>
              </a:pathLst>
            </a:custGeom>
            <a:solidFill>
              <a:srgbClr val="FA6559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16784" y="4667088"/>
            <a:ext cx="3019882" cy="3019882"/>
            <a:chOff x="0" y="0"/>
            <a:chExt cx="4026510" cy="40265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26535" cy="4026535"/>
            </a:xfrm>
            <a:custGeom>
              <a:avLst/>
              <a:gdLst/>
              <a:ahLst/>
              <a:cxnLst/>
              <a:rect l="l" t="t" r="r" b="b"/>
              <a:pathLst>
                <a:path w="4026535" h="4026535">
                  <a:moveTo>
                    <a:pt x="0" y="2013204"/>
                  </a:moveTo>
                  <a:cubicBezTo>
                    <a:pt x="0" y="901319"/>
                    <a:pt x="901319" y="0"/>
                    <a:pt x="2013204" y="0"/>
                  </a:cubicBezTo>
                  <a:cubicBezTo>
                    <a:pt x="3125089" y="0"/>
                    <a:pt x="4026535" y="901319"/>
                    <a:pt x="4026535" y="2013204"/>
                  </a:cubicBezTo>
                  <a:cubicBezTo>
                    <a:pt x="4026535" y="3125089"/>
                    <a:pt x="3125089" y="4026535"/>
                    <a:pt x="2013204" y="4026535"/>
                  </a:cubicBezTo>
                  <a:cubicBezTo>
                    <a:pt x="901319" y="4026535"/>
                    <a:pt x="0" y="3125089"/>
                    <a:pt x="0" y="2013204"/>
                  </a:cubicBezTo>
                  <a:close/>
                </a:path>
              </a:pathLst>
            </a:custGeom>
            <a:solidFill>
              <a:srgbClr val="343434"/>
            </a:solid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39926" y="1308554"/>
            <a:ext cx="10560539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144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SEMINARIO DE ACTUALIZACIÓN · IFTS N.º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970</Words>
  <Application>Microsoft Office PowerPoint</Application>
  <PresentationFormat>Personalizado</PresentationFormat>
  <Paragraphs>126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Didact Gothic</vt:lpstr>
      <vt:lpstr>Cardo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PROYECTO INTEGRADOR - SEMINARIO</dc:title>
  <cp:lastModifiedBy>sil ramos</cp:lastModifiedBy>
  <cp:revision>5</cp:revision>
  <dcterms:created xsi:type="dcterms:W3CDTF">2006-08-16T00:00:00Z</dcterms:created>
  <dcterms:modified xsi:type="dcterms:W3CDTF">2026-10-16T20:04:07Z</dcterms:modified>
  <dc:identifier>DAHYHjiX4iE</dc:identifier>
</cp:coreProperties>
</file>